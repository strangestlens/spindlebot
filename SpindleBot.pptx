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0" y="-1097280"/>
            <a:ext cx="5303520" cy="53035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040880" y="-640080"/>
            <a:ext cx="4389120" cy="4389120"/>
          </a:xfrm>
          <a:prstGeom prst="ellipse">
            <a:avLst/>
          </a:prstGeom>
          <a:solidFill>
            <a:srgbClr val="16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-182880"/>
            <a:ext cx="3474720" cy="347472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83879" y="502920"/>
            <a:ext cx="2057400" cy="20574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49640" y="868680"/>
            <a:ext cx="1325880" cy="1325880"/>
          </a:xfrm>
          <a:prstGeom prst="ellipse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14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Trebuchet MS"/>
              </a:rPr>
              <a:t>STRANGESTLENS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822960"/>
            <a:ext cx="6400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9FAFB"/>
                </a:solidFill>
                <a:latin typeface="Georgia"/>
              </a:rPr>
              <a:t>SpindleBot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1D5DB"/>
                </a:solidFill>
                <a:latin typeface="Trebuchet MS"/>
              </a:rPr>
              <a:t>An Autonomous Music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90672"/>
            <a:ext cx="5303520" cy="3657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255264"/>
            <a:ext cx="1280160" cy="32918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552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Trebuchet MS"/>
              </a:rPr>
              <a:t>CD Ripping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1952" y="3255264"/>
            <a:ext cx="1280160" cy="32918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01952" y="32552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Trebuchet MS"/>
              </a:rPr>
              <a:t>Metadata Cleanup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00984" y="3255264"/>
            <a:ext cx="1280160" cy="32918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0984" y="32552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Trebuchet MS"/>
              </a:rPr>
              <a:t>LRC Lyrics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0016" y="3255264"/>
            <a:ext cx="1280160" cy="32918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0016" y="32552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Trebuchet MS"/>
              </a:rPr>
              <a:t>Ext.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github.com/strangestlens/SpindleBot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51435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Trebuchet M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96112"/>
            <a:ext cx="32004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FAFB"/>
                </a:solidFill>
                <a:latin typeface="Georgia"/>
              </a:rPr>
              <a:t>Ripping a CD
is easy.
Building a library
you trust is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33756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Every album tells a story: multi-disc sets that import wrong, featured artists credited inconsistently, release dates in three formats, art that never shows up. Doing it right, manually, takes hours.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347472"/>
            <a:ext cx="4846320" cy="102412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33087" y="438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⏱  Manual &amp;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82296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Every rip requires tagging, art fetching, and library placement by hand.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490472"/>
            <a:ext cx="4846320" cy="102412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33087" y="1581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🎭  Inconsistent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3087" y="196596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XLD rips raw tags that don't match your library conventions.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2633472"/>
            <a:ext cx="4846320" cy="102412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7" y="2724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📀  Multi-disc Chaos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3087" y="310896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Multi-disc albums break folder structures and confuse media players.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3776472"/>
            <a:ext cx="4846320" cy="1024128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33087" y="386791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🔄  Library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7" y="4251960"/>
            <a:ext cx="4526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"/>
              </a:rPr>
              <a:t>Local copies diverge from external drives without reliable sync.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Trebuchet M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9FAFB"/>
                </a:solidFill>
                <a:latin typeface="Georgia"/>
              </a:rPr>
              <a:t>Two-phase, event-driven automation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89888"/>
            <a:ext cx="3931920" cy="3429000"/>
          </a:xfrm>
          <a:prstGeom prst="rect">
            <a:avLst/>
          </a:prstGeom>
          <a:solidFill>
            <a:srgbClr val="1F2937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3931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264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Trebuchet MS"/>
              </a:rPr>
              <a:t>PHASE 1 — 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38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🎵  XLD rips CD → FLAC + .log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3225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👀  fswatch detects .log in Staging/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066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🏷   music-pretag.py strips XLD junk tags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0906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📚  beet import → MusicBrainz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474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🔧  Post-import: disc count &amp; path fixes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8587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🎤  music-fetch-lyrics.py → .lrc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2428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🔔  Notification: macOS + Telegram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846320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D9488"/>
                </a:solidFill>
                <a:latin typeface="Calibri"/>
              </a:rPr>
              <a:t>Trigger: .log file detected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017520"/>
            <a:ext cx="5029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8803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1389888"/>
            <a:ext cx="3794760" cy="3429000"/>
          </a:xfrm>
          <a:prstGeom prst="rect">
            <a:avLst/>
          </a:prstGeom>
          <a:solidFill>
            <a:srgbClr val="1F29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1389888"/>
            <a:ext cx="379476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14264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A0F"/>
                </a:solidFill>
                <a:latin typeface="Trebuchet MS"/>
              </a:rPr>
              <a:t>PHASE 2 — 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193852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🔌  launchd detects DwRugged 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32257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🖼   music-fetch-art.py → CAA/iTunes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706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🏷   music-pretag.py final tag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09067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📤  rsync → /Volumes/DwRugged/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474720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🗄   sqlite3 DB path reconciliation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858768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🎤  Lyrics safety-net on DwRugged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242816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9FAFB"/>
                </a:solidFill>
                <a:latin typeface="Calibri"/>
              </a:rPr>
              <a:t>🔔  Notification: sync 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846320"/>
            <a:ext cx="3794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  <a:latin typeface="Calibri"/>
              </a:rPr>
              <a:t>Trigger: external drive mounted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Trebuchet M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Georgia"/>
              </a:rPr>
              <a:t>Sophisticated handling for every edge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298448"/>
            <a:ext cx="276148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298448"/>
            <a:ext cx="2761488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463039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Smart Multi-disc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892807"/>
            <a:ext cx="24871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Waits for all discs before importing. Detects actual ripped disc count — not MusicBrainz disctotal — handling DualDiscs, deluxe editions, and mislabeled releases.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91256" y="1298448"/>
            <a:ext cx="276148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91256" y="1298448"/>
            <a:ext cx="2761488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5" y="1463039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Tag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5" y="1892807"/>
            <a:ext cx="24871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Three cleanup passes: pre-import strips XLD junk, post-import fixes beet alias tags, pre-sync does final normalization. feat. credits auto-move from artist to title field.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298448"/>
            <a:ext cx="276148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9904" y="1298448"/>
            <a:ext cx="2761488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7064" y="1463039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LRC Lyrics with Fallbacks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892807"/>
            <a:ext cx="24871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Queries lrclib.net for timestamped lyrics. Falls back to plain lyrics, then embedded tags. CJK stripping handles Japanese imports. Marker files prevent redundant API calls.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3108960"/>
            <a:ext cx="276148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2608" y="3108960"/>
            <a:ext cx="2761488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273552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Album Art — Dual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3703320"/>
            <a:ext cx="24871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Primary: Cover Art Archive via MusicBrainz ID. Fallback: iTunes Store API at 600×600. Embedded into the FLAC and saved as cover.jpg for players that prefer sidecars.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91256" y="3108960"/>
            <a:ext cx="276148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91256" y="3108960"/>
            <a:ext cx="2761488" cy="7315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28415" y="3273552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API Resilience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5" y="3703320"/>
            <a:ext cx="24871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Multiple query strategies per API: original title → CJK-stripped → filename-derived. Duration-aware and duration-free lookup paths. Per-request throttle to avoid rate limiting.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3108960"/>
            <a:ext cx="2761488" cy="168249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89904" y="3108960"/>
            <a:ext cx="2761488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3273552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DB Path Reconciliation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3703320"/>
            <a:ext cx="248716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After rsync moves files to DwRugged, a sqlite3 query rewrites all library paths from /Users/danielwilliams to /Volumes/DwRugged. The beets DB stays consistent with reality.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Trebuchet MS"/>
              </a:rPr>
              <a:t>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FAFB"/>
                </a:solidFill>
                <a:latin typeface="Georgia"/>
              </a:rPr>
              <a:t>What SpindleBot gets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371600"/>
            <a:ext cx="7132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D9488"/>
                </a:solidFill>
                <a:latin typeface="Georgia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5568" y="1481328"/>
            <a:ext cx="36576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408176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Trebuchet MS"/>
              </a:rPr>
              <a:t>Metadata Quality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1773936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Multiple cleanup passes ensure consistent, queryable tags. Handles edge cases that break most pipelines: compilations, feat. credits, alias tag bleed-through, date precision.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58568"/>
            <a:ext cx="7132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Georgia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" y="2368296"/>
            <a:ext cx="36576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295144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Trebuchet MS"/>
              </a:rPr>
              <a:t>Reliability &amp; Idempotency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660903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Lockfiles prevent concurrent runs. Pre-flight disc count checks block incomplete imports. Every step is logged. The pipeline restarts safely mid-run.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145536"/>
            <a:ext cx="7132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7C3AED"/>
                </a:solidFill>
                <a:latin typeface="Georgia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3255264"/>
            <a:ext cx="36576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3182112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Trebuchet MS"/>
              </a:rPr>
              <a:t>Event-driven, Zero-friction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547872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Drop a CD in, walk away. fswatch and launchd fire the pipeline automatically. Real-time feedback via macOS alerts and Telegram. Notified on your phone when the shelf updates.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032504"/>
            <a:ext cx="7132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Georgia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5568" y="4142232"/>
            <a:ext cx="36576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069080"/>
            <a:ext cx="7406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FAFB"/>
                </a:solidFill>
                <a:latin typeface="Trebuchet MS"/>
              </a:rPr>
              <a:t>Operational Maturity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4434840"/>
            <a:ext cx="7406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Born from real disasters — including a 2026-03 accidental wipe. RERIP.md, lockfiles, post-sync DB reconciliation, and lyrics safety nets are lessons paid for in pain.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Trebuchet MS"/>
              </a:rPr>
              <a:t>BUILT-IN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FAFB"/>
                </a:solidFill>
                <a:latin typeface="Georgia"/>
              </a:rPr>
              <a:t>lrc-editor — The Lyric Sync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71600"/>
            <a:ext cx="4206240" cy="3520440"/>
          </a:xfrm>
          <a:prstGeom prst="rect">
            <a:avLst/>
          </a:prstGeom>
          <a:solidFill>
            <a:srgbClr val="12101E"/>
          </a:solidFill>
          <a:ln w="9525">
            <a:solidFill>
              <a:srgbClr val="2D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4206240" cy="384048"/>
          </a:xfrm>
          <a:prstGeom prst="rect">
            <a:avLst/>
          </a:prstGeom>
          <a:solidFill>
            <a:srgbClr val="1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4081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FAFB"/>
                </a:solidFill>
                <a:latin typeface="Trebuchet MS"/>
              </a:rPr>
              <a:t>lrc-editor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664208" y="1435608"/>
            <a:ext cx="822960" cy="237744"/>
          </a:xfrm>
          <a:prstGeom prst="rect">
            <a:avLst/>
          </a:prstGeom>
          <a:solidFill>
            <a:srgbClr val="2D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64208" y="1435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Open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435608"/>
            <a:ext cx="822960" cy="23774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435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Lay 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6" y="1435608"/>
            <a:ext cx="822960" cy="237744"/>
          </a:xfrm>
          <a:prstGeom prst="rect">
            <a:avLst/>
          </a:prstGeom>
          <a:solidFill>
            <a:srgbClr val="1F5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143560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4206240" cy="1143000"/>
          </a:xfrm>
          <a:prstGeom prst="rect">
            <a:avLst/>
          </a:prstGeom>
          <a:solidFill>
            <a:srgbClr val="0D0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207659"/>
            <a:ext cx="68580" cy="293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" y="2331260"/>
            <a:ext cx="68580" cy="4663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" y="2280964"/>
            <a:ext cx="68580" cy="14723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" y="2291389"/>
            <a:ext cx="68580" cy="126381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" y="2188137"/>
            <a:ext cx="68580" cy="33288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2200161"/>
            <a:ext cx="68580" cy="3088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" y="2156814"/>
            <a:ext cx="68580" cy="395531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" y="2318802"/>
            <a:ext cx="68580" cy="7155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" y="2251414"/>
            <a:ext cx="68580" cy="20633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69848" y="2330297"/>
            <a:ext cx="68580" cy="4856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2292309"/>
            <a:ext cx="68580" cy="124541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16152" y="2234630"/>
            <a:ext cx="68580" cy="23989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89304" y="2330953"/>
            <a:ext cx="68580" cy="472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62456" y="2296292"/>
            <a:ext cx="68580" cy="116575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5608" y="2205556"/>
            <a:ext cx="68580" cy="298047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8760" y="2226667"/>
            <a:ext cx="68580" cy="255825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581912" y="2291946"/>
            <a:ext cx="68580" cy="125267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55064" y="2217750"/>
            <a:ext cx="68580" cy="27365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28216" y="2173460"/>
            <a:ext cx="68580" cy="362239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01368" y="2334984"/>
            <a:ext cx="68580" cy="3919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74520" y="2174186"/>
            <a:ext cx="68580" cy="36078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47672" y="2195848"/>
            <a:ext cx="68580" cy="31746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20824" y="2267844"/>
            <a:ext cx="68580" cy="17347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093976" y="2305014"/>
            <a:ext cx="68580" cy="99131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167128" y="2143731"/>
            <a:ext cx="68580" cy="421697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40280" y="2268579"/>
            <a:ext cx="68580" cy="172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13432" y="2317634"/>
            <a:ext cx="68580" cy="7389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86584" y="2316835"/>
            <a:ext cx="68580" cy="7548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59736" y="2165803"/>
            <a:ext cx="68580" cy="377553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32888" y="2214841"/>
            <a:ext cx="68580" cy="2794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06040" y="2173923"/>
            <a:ext cx="68580" cy="36131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79192" y="2189493"/>
            <a:ext cx="68580" cy="330173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752344" y="2228420"/>
            <a:ext cx="68580" cy="252319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825496" y="2140532"/>
            <a:ext cx="68580" cy="428095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98648" y="2260142"/>
            <a:ext cx="68580" cy="18887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971800" y="2225239"/>
            <a:ext cx="68580" cy="258681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44952" y="2169442"/>
            <a:ext cx="68580" cy="370275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18104" y="2211865"/>
            <a:ext cx="68580" cy="28542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91256" y="2162944"/>
            <a:ext cx="68580" cy="383271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64408" y="2220147"/>
            <a:ext cx="68580" cy="268865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37560" y="2194554"/>
            <a:ext cx="68580" cy="320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10712" y="2327073"/>
            <a:ext cx="68580" cy="550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83864" y="2290446"/>
            <a:ext cx="68580" cy="128267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57016" y="2278076"/>
            <a:ext cx="68580" cy="153007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30168" y="2320240"/>
            <a:ext cx="68580" cy="68679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2289461"/>
            <a:ext cx="68580" cy="13023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76472" y="2315973"/>
            <a:ext cx="68580" cy="7721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49624" y="2280372"/>
            <a:ext cx="68580" cy="14841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22776" y="2208412"/>
            <a:ext cx="68580" cy="292334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95928" y="2262899"/>
            <a:ext cx="68580" cy="183361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69080" y="2261823"/>
            <a:ext cx="68580" cy="185513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42232" y="2294145"/>
            <a:ext cx="68580" cy="12086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15384" y="2282584"/>
            <a:ext cx="68580" cy="14399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88536" y="2147867"/>
            <a:ext cx="68580" cy="413425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61688" y="2205928"/>
            <a:ext cx="68580" cy="297303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95728" y="1755648"/>
            <a:ext cx="22860" cy="1188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05840" y="1764792"/>
            <a:ext cx="18288" cy="1097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673351" y="1764792"/>
            <a:ext cx="18288" cy="1097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94560" y="1764792"/>
            <a:ext cx="18288" cy="1097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807208" y="1764792"/>
            <a:ext cx="18288" cy="1097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410712" y="1764792"/>
            <a:ext cx="18288" cy="1097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023360" y="1764792"/>
            <a:ext cx="18288" cy="109728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0040" y="2962656"/>
            <a:ext cx="4206240" cy="329184"/>
          </a:xfrm>
          <a:prstGeom prst="rect">
            <a:avLst/>
          </a:prstGeom>
          <a:solidFill>
            <a:srgbClr val="1A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75488" y="29900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1D5DB"/>
                </a:solidFill>
                <a:latin typeface="Calibri"/>
              </a:rPr>
              <a:t>▶  00:42.10  /  03:18.00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3319272"/>
            <a:ext cx="4206240" cy="1481328"/>
          </a:xfrm>
          <a:prstGeom prst="rect">
            <a:avLst/>
          </a:prstGeom>
          <a:solidFill>
            <a:srgbClr val="12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9184" y="3346704"/>
            <a:ext cx="4187952" cy="219456"/>
          </a:xfrm>
          <a:prstGeom prst="rect">
            <a:avLst/>
          </a:prstGeom>
          <a:solidFill>
            <a:srgbClr val="12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4048" y="336499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00:08.3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78992" y="336499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These are the things I can do without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9184" y="3579876"/>
            <a:ext cx="4187952" cy="219456"/>
          </a:xfrm>
          <a:prstGeom prst="rect">
            <a:avLst/>
          </a:prstGeom>
          <a:solidFill>
            <a:srgbClr val="12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4048" y="3598164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00:22.1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992" y="3598164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Come on — I'm talking to you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29184" y="3813048"/>
            <a:ext cx="4187952" cy="219456"/>
          </a:xfrm>
          <a:prstGeom prst="rect">
            <a:avLst/>
          </a:prstGeom>
          <a:solidFill>
            <a:srgbClr val="12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4048" y="3831335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00:31.6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2" y="3831335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Come 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9184" y="4046220"/>
            <a:ext cx="4187952" cy="219456"/>
          </a:xfrm>
          <a:prstGeom prst="rect">
            <a:avLst/>
          </a:prstGeom>
          <a:solidFill>
            <a:srgbClr val="24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4048" y="4064507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D9488"/>
                </a:solidFill>
                <a:latin typeface="Calibri"/>
              </a:rPr>
              <a:t>00:42.1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78992" y="4064507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9E0B"/>
                </a:solidFill>
                <a:latin typeface="Calibri"/>
              </a:rPr>
              <a:t>These are the things I can do without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9184" y="4279392"/>
            <a:ext cx="4187952" cy="219456"/>
          </a:xfrm>
          <a:prstGeom prst="rect">
            <a:avLst/>
          </a:prstGeom>
          <a:solidFill>
            <a:srgbClr val="12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4048" y="4297679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00:52.4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8992" y="4297679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Come 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29184" y="4512564"/>
            <a:ext cx="4187952" cy="219456"/>
          </a:xfrm>
          <a:prstGeom prst="rect">
            <a:avLst/>
          </a:prstGeom>
          <a:solidFill>
            <a:srgbClr val="12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4048" y="4530852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"/>
              </a:rPr>
              <a:t>01:05.0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78992" y="4530852"/>
            <a:ext cx="3291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1D5DB"/>
                </a:solidFill>
                <a:latin typeface="Calibri"/>
              </a:rPr>
              <a:t>Don't you know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54880" y="1389888"/>
            <a:ext cx="4114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  <a:latin typeface="Calibri"/>
              </a:rPr>
              <a:t>A 1,315-line Python script that serves a full Flask web app with WaveSurfer.js waveform visualization. Drag lyric markers, edit timestamps in real time, preview in mpv — then commit directly to the .lrc sidecar.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754880" y="2514600"/>
            <a:ext cx="1298448" cy="29260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54880" y="2514600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Drag markers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44768" y="2514600"/>
            <a:ext cx="1298448" cy="29260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144768" y="2514600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Undo stack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534656" y="2514600"/>
            <a:ext cx="1298448" cy="29260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534656" y="2514600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Smart import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754880" y="2898648"/>
            <a:ext cx="1298448" cy="29260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754880" y="28986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mpv preview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4768" y="2898648"/>
            <a:ext cx="1298448" cy="29260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44768" y="2898648"/>
            <a:ext cx="12984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D9488"/>
                </a:solidFill>
                <a:latin typeface="Calibri"/>
              </a:rPr>
              <a:t>Non-destructive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754880" y="3063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9E0B"/>
                </a:solidFill>
                <a:latin typeface="Trebuchet MS"/>
              </a:rPr>
              <a:t>KEYBOARD SHORTCUTS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54880" y="3364992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54880" y="3364992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Space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36208" y="3364992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Play / Pause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54880" y="3561588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754880" y="3561588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← / →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36208" y="3561588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Seek ±1 second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54880" y="3758184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754880" y="3758184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Ctrl + ← / →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236208" y="3758184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Seek ±5 seconds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54880" y="3954780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54880" y="3954780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Shift + ← / →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36208" y="3954780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Fine seek ±0.1s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54880" y="4151376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54880" y="4151376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, / 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236208" y="4151376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Nudge marker ±0.1s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754880" y="4347972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754880" y="4347972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a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36208" y="4347972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Add line at playhead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0" y="4544568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754880" y="4544568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e / Enter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36208" y="4544568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Edit selected line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754880" y="4741164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754880" y="4741164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Ctrl + Z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36208" y="4741164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Undo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54880" y="4937760"/>
            <a:ext cx="1417320" cy="173736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754880" y="4937760"/>
            <a:ext cx="141732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9FAFB"/>
                </a:solidFill>
                <a:latin typeface="Calibri"/>
              </a:rPr>
              <a:t>?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36208" y="4937760"/>
            <a:ext cx="2606040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1D5DB"/>
                </a:solidFill>
                <a:latin typeface="Calibri"/>
              </a:rPr>
              <a:t>Show help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Trebuchet MS"/>
              </a:rPr>
              <a:t>WHERE IT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Georgia"/>
              </a:rPr>
              <a:t>Honest gaps in the current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298448"/>
            <a:ext cx="42245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03904" y="1389888"/>
            <a:ext cx="621792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3904" y="138988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rebuchet MS"/>
              </a:rPr>
              <a:t>HIGH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38988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Hard-coded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773936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User paths, Homebrew binary locations, API keys, Telegram tokens — all baked into scripts. Breaks on any other machine and leaks credentials in the repo.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1456" y="1298448"/>
            <a:ext cx="42245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02752" y="1389888"/>
            <a:ext cx="621792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38988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rebuchet M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8616" y="1389888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No Error Recovery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1773936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Network timeouts, API rate limits, failed rsyncs — all logged but not retried. A single transient failure can silently skip lyrics or art for an entire batch.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" y="2560320"/>
            <a:ext cx="42245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03904" y="2651760"/>
            <a:ext cx="6217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265176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rebuchet MS"/>
              </a:rPr>
              <a:t>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651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Monolithic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03580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The two main shell scripts do too much. Disc-checking logic appears twice. Hard to test individual stages in isolation.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91456" y="2560320"/>
            <a:ext cx="42245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2651760"/>
            <a:ext cx="6217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265176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rebuchet MS"/>
              </a:rPr>
              <a:t>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28616" y="2651760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macOS-only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8616" y="3035808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launchd, fswatch, osascript, and XLD are all macOS-specific. The pipeline can't run on Linux or Windows without significant rework.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3822191"/>
            <a:ext cx="42245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03904" y="3913631"/>
            <a:ext cx="621792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3904" y="3913631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rebuchet MS"/>
              </a:rPr>
              <a:t>MED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913631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Single Input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" y="4297679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Only handles XLD rips from physical CDs. Digital downloads, vinyl, streaming archives, or SACD ISOs need full manual handling.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91456" y="3822191"/>
            <a:ext cx="4224528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02752" y="3913631"/>
            <a:ext cx="621792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913631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rebuchet MS"/>
              </a:rPr>
              <a:t>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8616" y="3913631"/>
            <a:ext cx="32644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Trebuchet MS"/>
              </a:rPr>
              <a:t>Single Destination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28616" y="4297679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Everything wired to one external drive (DwRugged). No cloud backup, no NAS, no multi-device sync story.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-1645920"/>
            <a:ext cx="6858000" cy="6858000"/>
          </a:xfrm>
          <a:prstGeom prst="ellipse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1371600"/>
            <a:ext cx="5943600" cy="59436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Trebuchet MS"/>
              </a:rPr>
              <a:t>THE GRAND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9FAFB"/>
                </a:solidFill>
                <a:latin typeface="Georgia"/>
              </a:rPr>
              <a:t>What SpindleBot</a:t>
            </a:r>
          </a:p>
          <a:p>
            <a:pPr algn="ctr"/>
            <a:r>
              <a:rPr sz="5800" b="1">
                <a:solidFill>
                  <a:srgbClr val="F9FAFB"/>
                </a:solidFill>
                <a:latin typeface="Georgia"/>
              </a:rPr>
              <a:t>could become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74980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D1D5DB"/>
                </a:solidFill>
                <a:latin typeface="Calibri"/>
              </a:rPr>
              <a:t>A personal music intelligence platform that doesn't just manage files — it understands your collection, learns your taste, and brings your library to life across every device, every room, and every format you'll ever encounter.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7724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9FAFB"/>
                </a:solidFill>
                <a:latin typeface="Georgia"/>
              </a:rPr>
              <a:t>THE
INTELLIGENCE
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78892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  <a:latin typeface="Calibri"/>
              </a:rPr>
              <a:t>SpindleBot learns your collection as deeply as you know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93008" y="292608"/>
            <a:ext cx="534924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30168" y="365760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🧠  AI-Powered Auto-tagging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0168" y="749808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Local LLMs and audio fingerprinting identify tracks from audio alone — no rip log required. AcoustID fingerprinting + ML genre and mood classification.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463040"/>
            <a:ext cx="534924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536192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🔍  Multi-source Metadata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1920240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Pull from MusicBrainz, Discogs, AllMusic, and Last.fm simultaneously. Confidence-score each field and surface conflicts for human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2633472"/>
            <a:ext cx="534924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706624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🎵  Catalog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090672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Know what you own vs. what you want. Track pressing variants, detect duplicate albums in different formats, surface gaps in artist catalogs.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93008" y="3803904"/>
            <a:ext cx="5349240" cy="1051560"/>
          </a:xfrm>
          <a:prstGeom prst="rect">
            <a:avLst/>
          </a:prstGeom>
          <a:solidFill>
            <a:srgbClr val="1F2937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3877056"/>
            <a:ext cx="5074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✅  Automated Quality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261104"/>
            <a:ext cx="5074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Detect encoding artifacts, clipping, silence at boundaries, and bit-rate inconsistencies. Flag rips that need a redo before they enter the library.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Trebuchet MS"/>
              </a:rPr>
              <a:t>EVERY FORMAT.  EVERY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  <a:latin typeface="Georgia"/>
              </a:rPr>
              <a:t>SpindleBot becomes format-agnostic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298448"/>
            <a:ext cx="2743200" cy="1078992"/>
          </a:xfrm>
          <a:prstGeom prst="rect">
            <a:avLst/>
          </a:prstGeom>
          <a:solidFill>
            <a:srgbClr val="4C1D95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408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FAFB"/>
                </a:solidFill>
                <a:latin typeface="Calibri"/>
              </a:rPr>
              <a:t>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14081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CD  (FLAC)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✓ Already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98448"/>
            <a:ext cx="27432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08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FAFB"/>
                </a:solidFill>
                <a:latin typeface="Calibri"/>
              </a:rPr>
              <a:t>🎚️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14081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Trebuchet MS"/>
              </a:rPr>
              <a:t>Vinyl Rips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EAC → declicker → FLAC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8192" y="1298448"/>
            <a:ext cx="27432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408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FAFB"/>
                </a:solidFill>
                <a:latin typeface="Calibri"/>
              </a:rPr>
              <a:t>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4081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Trebuchet MS"/>
              </a:rPr>
              <a:t>Cassette / DAT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8013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USB audio interface → normalization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" y="2505456"/>
            <a:ext cx="27432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FAFB"/>
                </a:solidFill>
                <a:latin typeface="Calibr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5" y="26151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Trebuchet MS"/>
              </a:rPr>
              <a:t>Digital Downloads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0083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Bandcamp, 7digital, HDtracks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505456"/>
            <a:ext cx="27432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FAFB"/>
                </a:solidFill>
                <a:latin typeface="Calibri"/>
              </a:rPr>
              <a:t>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8" y="26151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Trebuchet MS"/>
              </a:rPr>
              <a:t>Streaming Archives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30083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Personal capture workflows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8192" y="2505456"/>
            <a:ext cx="27432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6151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9FAFB"/>
                </a:solidFill>
                <a:latin typeface="Calibri"/>
              </a:rP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1518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Trebuchet MS"/>
              </a:rPr>
              <a:t>SACD / Hi-Res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0083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Calibri"/>
              </a:rPr>
              <a:t>ISO extraction → DSD → FLAC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462272"/>
            <a:ext cx="9144000" cy="676656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507992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1D5DB"/>
                </a:solidFill>
                <a:latin typeface="Calibri"/>
              </a:rPr>
              <a:t>And syncs everywhere:   🖥 Local NAS   ☁️ Backblaze / Rclone   📱 Mobile SFTP   🎧 rekordbox / Serato   📺 Plex / Jellyfin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Trebuchet MS"/>
              </a:rPr>
              <a:t>THE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FAFB"/>
                </a:solidFill>
                <a:latin typeface="Georgia"/>
              </a:rPr>
              <a:t>From pipeline to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325880"/>
            <a:ext cx="4160520" cy="3520440"/>
          </a:xfrm>
          <a:prstGeom prst="rect">
            <a:avLst/>
          </a:prstGeom>
          <a:solidFill>
            <a:srgbClr val="1F2937"/>
          </a:solidFill>
          <a:ln w="9525">
            <a:solidFill>
              <a:srgbClr val="2D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4160520" cy="411480"/>
          </a:xfrm>
          <a:prstGeom prst="rect">
            <a:avLst/>
          </a:prstGeom>
          <a:solidFill>
            <a:srgbClr val="16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30352" y="145389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68096" y="145389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453896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3716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1D5DB"/>
                </a:solidFill>
                <a:latin typeface="Calibri"/>
              </a:rPr>
              <a:t>SpindleBot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1207008" cy="777240"/>
          </a:xfrm>
          <a:prstGeom prst="rect">
            <a:avLst/>
          </a:prstGeom>
          <a:solidFill>
            <a:srgbClr val="1A2333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20240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9E0B"/>
                </a:solidFill>
                <a:latin typeface="Georgia"/>
              </a:rPr>
              <a:t>4,287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4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Albums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874519"/>
            <a:ext cx="1207008" cy="777240"/>
          </a:xfrm>
          <a:prstGeom prst="rect">
            <a:avLst/>
          </a:prstGeom>
          <a:solidFill>
            <a:srgbClr val="1A2333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920240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9E0B"/>
                </a:solidFill>
                <a:latin typeface="Georgia"/>
              </a:rPr>
              <a:t>61,420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340864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Tracks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1874519"/>
            <a:ext cx="1207008" cy="777240"/>
          </a:xfrm>
          <a:prstGeom prst="rect">
            <a:avLst/>
          </a:prstGeom>
          <a:solidFill>
            <a:srgbClr val="1A2333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1920240"/>
            <a:ext cx="1207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59E0B"/>
                </a:solidFill>
                <a:latin typeface="Georgia"/>
              </a:rPr>
              <a:t>98.2%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340864"/>
            <a:ext cx="12070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  <a:latin typeface="Calibri"/>
              </a:rPr>
              <a:t>Tagged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52928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  <a:latin typeface="Calibri"/>
              </a:rPr>
              <a:t>✓  Miles Davis — Kind of Blue  ·  2m 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19272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  <a:latin typeface="Calibri"/>
              </a:rPr>
              <a:t>✓  Boards of Canada — Geogaddi  ·  14m ago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85616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D9488"/>
                </a:solidFill>
                <a:latin typeface="Calibri"/>
              </a:rPr>
              <a:t>⟳  Importing: Talk Talk — Spirit of Eden...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5196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alibri"/>
              </a:rPr>
              <a:t>⚠  Missing art: Cocteau Twins — Heaven or Las Vegas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426464"/>
            <a:ext cx="6400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13898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Web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1755648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Real-time import status, collection stats, missing metadata reports, and a lyric-sync editor — all in a browser.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313432"/>
            <a:ext cx="64008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22768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Mobile 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2642616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Scan a CD barcode to pre-fetch metadata before you rip. Get push notifications when the library syncs.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00600" y="3200400"/>
            <a:ext cx="6400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31638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Smart Playlists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912" y="3529584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Auto-generated playlists by era, mood, BPM, or label. 'Everything added this month' as a living playlist.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4087368"/>
            <a:ext cx="64008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10912" y="40507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FAFB"/>
                </a:solidFill>
                <a:latin typeface="Trebuchet MS"/>
              </a:rPr>
              <a:t>Community Metadata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4416552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1D5DB"/>
                </a:solidFill>
                <a:latin typeface="Calibri"/>
              </a:rPr>
              <a:t>Crowdsourced edits: contribute MusicBrainz fixes directly from the pipeline when you spot bad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-914400"/>
            <a:ext cx="6400800" cy="64008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-457200"/>
            <a:ext cx="5486400" cy="5486400"/>
          </a:xfrm>
          <a:prstGeom prst="ellipse">
            <a:avLst/>
          </a:prstGeom>
          <a:solidFill>
            <a:srgbClr val="161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0" y="0"/>
            <a:ext cx="4572000" cy="4572000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172200" y="1143000"/>
            <a:ext cx="2286000" cy="22860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1691640"/>
            <a:ext cx="1188720" cy="1188720"/>
          </a:xfrm>
          <a:prstGeom prst="ellipse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144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9FAFB"/>
                </a:solidFill>
                <a:latin typeface="Georgia"/>
              </a:rPr>
              <a:t>The music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59E0B"/>
                </a:solidFill>
                <a:latin typeface="Georgia"/>
              </a:rPr>
              <a:t>never stops.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  <a:latin typeface="Calibri"/>
              </a:rPr>
              <a:t>SpindleBot started as a personal script to tame one person's CD collection. With the right ambition, it becomes a permanent home for music — organized, intelligent, and alive.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github.com/strangestlens/SpindleBot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